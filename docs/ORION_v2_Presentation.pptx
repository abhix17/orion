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ORION v2: CYBERGUARD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Cyber Threat Intelligence &amp; Digital Trust Platform</a:t>
            </a:r>
          </a:p>
          <a:p>
            <a:r>
              <a:t>Production-Grade Multimodal Threat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Next-Generation Cyber Warfare Defense:</a:t>
            </a:r>
          </a:p>
          <a:p>
            <a:pPr lvl="1"/>
            <a:r>
              <a:t>Prevents banking phishing, voice cloning, deepfakes, and ATO</a:t>
            </a:r>
          </a:p>
          <a:p>
            <a:pPr lvl="1"/>
            <a:r>
              <a:t>Built for both citizens (Safety Hub) and enterprise SOC teams</a:t>
            </a:r>
          </a:p>
          <a:p>
            <a:pPr/>
            <a:r>
              <a:t>Strict Evidence-Driven Architecture:</a:t>
            </a:r>
          </a:p>
          <a:p>
            <a:pPr lvl="1"/>
            <a:r>
              <a:t>Semantics decoupled from risk scoring</a:t>
            </a:r>
          </a:p>
          <a:p>
            <a:pPr lvl="1"/>
            <a:r>
              <a:t>LLMs extract evidence but do not invent opaque risk numbers</a:t>
            </a:r>
          </a:p>
          <a:p>
            <a:pPr lvl="1"/>
            <a:r>
              <a:t>Mathematical deterministic risk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Raw Multimodal Input (Web, SMS, Audio, Image, Auth)</a:t>
            </a:r>
          </a:p>
          <a:p>
            <a:pPr/>
            <a:r>
              <a:t>↓ Provider Gateway &amp; Detection Adapters</a:t>
            </a:r>
          </a:p>
          <a:p>
            <a:pPr lvl="1"/>
            <a:r>
              <a:t>NLP, Audio Anti-Spoofing, ECAPA-TDNN, ViT, Isolation Forest</a:t>
            </a:r>
          </a:p>
          <a:p>
            <a:pPr/>
            <a:r>
              <a:t>↓ Universal Evidence Contract Layer</a:t>
            </a:r>
          </a:p>
          <a:p>
            <a:pPr lvl="1"/>
            <a:r>
              <a:t>Normalizes evidence items with calibrated confidence</a:t>
            </a:r>
          </a:p>
          <a:p>
            <a:pPr/>
            <a:r>
              <a:t>↓ Deterministic Risk Engine (IRE)</a:t>
            </a:r>
          </a:p>
          <a:p>
            <a:pPr lvl="1"/>
            <a:r>
              <a:t>Interaction formulas and circuit breakers</a:t>
            </a:r>
          </a:p>
          <a:p>
            <a:pPr/>
            <a:r>
              <a:t>↓ Threat Enrichment &amp; Persona Interfaces</a:t>
            </a:r>
          </a:p>
          <a:p>
            <a:pPr lvl="1"/>
            <a:r>
              <a:t>Routes to SOC Command Center &amp; Citizen Safety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&amp; Phishing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24-Feature Lexical Extractor:</a:t>
            </a:r>
          </a:p>
          <a:p>
            <a:pPr lvl="1"/>
            <a:r>
              <a:t>Computes Shannon entropy, punycode flags, Levenshtein distance</a:t>
            </a:r>
          </a:p>
          <a:p>
            <a:pPr/>
            <a:r>
              <a:t>URLBERT Classifier:</a:t>
            </a:r>
          </a:p>
          <a:p>
            <a:pPr lvl="1"/>
            <a:r>
              <a:t>Calibrated model for lookalike domains and credential harvesters</a:t>
            </a:r>
          </a:p>
          <a:p>
            <a:pPr/>
            <a:r>
              <a:t>Browser Shield Extension (Manifest V3):</a:t>
            </a:r>
          </a:p>
          <a:p>
            <a:pPr lvl="1"/>
            <a:r>
              <a:t>Passive DOM signal observer</a:t>
            </a:r>
          </a:p>
          <a:p>
            <a:pPr lvl="1"/>
            <a:r>
              <a:t>Captures form actions and brand assertions</a:t>
            </a:r>
          </a:p>
          <a:p>
            <a:pPr lvl="1"/>
            <a:r>
              <a:t>Absolute privacy: Never transmits user keystrokes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Cloning &amp; Deepfake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W2V2-AASIST Neural Anti-Spoofing:</a:t>
            </a:r>
          </a:p>
          <a:p>
            <a:pPr lvl="1"/>
            <a:r>
              <a:t>Analyzes acoustic waveforms for synthetic vocoder artifacts</a:t>
            </a:r>
          </a:p>
          <a:p>
            <a:pPr/>
            <a:r>
              <a:t>ECAPA-TDNN Speaker Verification:</a:t>
            </a:r>
          </a:p>
          <a:p>
            <a:pPr lvl="1"/>
            <a:r>
              <a:t>Matches 192-dimensional embeddings against VIP reference profiles</a:t>
            </a:r>
          </a:p>
          <a:p>
            <a:pPr/>
            <a:r>
              <a:t>OpenCV Forensics &amp; Real ViT:</a:t>
            </a:r>
          </a:p>
          <a:p>
            <a:pPr lvl="1"/>
            <a:r>
              <a:t>2D FFT high-frequency spectrum analysis for GAN manipulation</a:t>
            </a:r>
          </a:p>
          <a:p>
            <a:pPr/>
            <a:r>
              <a:t>Hybrid Multimodal Tier Hierarchy:</a:t>
            </a:r>
          </a:p>
          <a:p>
            <a:pPr lvl="1"/>
            <a:r>
              <a:t>Qwen 2.5 72B -&gt; Gemini Flash -&gt; Zero-Trust Offline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Behavioural Security &amp; Account Takeover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Geo-Velocity Calculator:</a:t>
            </a:r>
          </a:p>
          <a:p>
            <a:pPr lvl="1"/>
            <a:r>
              <a:t>Haversine distance computation</a:t>
            </a:r>
          </a:p>
          <a:p>
            <a:pPr lvl="1"/>
            <a:r>
              <a:t>Flags impossible travel (e.g. &gt; 850 km/h)</a:t>
            </a:r>
          </a:p>
          <a:p>
            <a:pPr/>
            <a:r>
              <a:t>Isolation Forest Anomaly Scorer:</a:t>
            </a:r>
          </a:p>
          <a:p>
            <a:pPr lvl="1"/>
            <a:r>
              <a:t>Unsupervised multivariate anomaly detection</a:t>
            </a:r>
          </a:p>
          <a:p>
            <a:pPr lvl="1"/>
            <a:r>
              <a:t>Evaluates 7-dimensional authentication vectors</a:t>
            </a:r>
          </a:p>
          <a:p>
            <a:pPr lvl="1"/>
            <a:r>
              <a:t>Captures ASN novelty, login hour distribution, and bursts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Risk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Multiplicative Impersonation Synergy:</a:t>
            </a:r>
          </a:p>
          <a:p>
            <a:pPr lvl="1"/>
            <a:r>
              <a:t>Combines synthetic audio + reference match + financial coercion</a:t>
            </a:r>
          </a:p>
          <a:p>
            <a:pPr lvl="1"/>
            <a:r>
              <a:t>Synergistic conditions trigger immediate CRITICAL risk flags</a:t>
            </a:r>
          </a:p>
          <a:p>
            <a:pPr/>
            <a:r>
              <a:t>Lookalike + Credential Form Harvester Synergy:</a:t>
            </a:r>
          </a:p>
          <a:p>
            <a:pPr lvl="1"/>
            <a:r>
              <a:t>Phishing domain matches high-risk login form presence</a:t>
            </a:r>
          </a:p>
          <a:p>
            <a:pPr/>
            <a:r>
              <a:t>Geo-Velocity Circuit Breaker:</a:t>
            </a:r>
          </a:p>
          <a:p>
            <a:pPr lvl="1"/>
            <a:r>
              <a:t>Deterministic tripwires bypass normal scoring</a:t>
            </a:r>
          </a:p>
          <a:p>
            <a:pPr lvl="1"/>
            <a:r>
              <a:t>E.g. Speed &gt; 850 km/h = Immediate 0.88 ATO Floor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Threat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MITRE ATT&amp;CK Mapping:</a:t>
            </a:r>
          </a:p>
          <a:p>
            <a:pPr lvl="1"/>
            <a:r>
              <a:t>Maps threats to T1566.002, T1656, T1078, T1110.003</a:t>
            </a:r>
          </a:p>
          <a:p>
            <a:pPr/>
            <a:r>
              <a:t>Plain-English Rationale Generation:</a:t>
            </a:r>
          </a:p>
          <a:p>
            <a:pPr lvl="1"/>
            <a:r>
              <a:t>Democratizes cybersecurity intelligence for non-technical users</a:t>
            </a:r>
          </a:p>
          <a:p>
            <a:pPr/>
            <a:r>
              <a:t>Actionable Incident Response Playbooks:</a:t>
            </a:r>
          </a:p>
          <a:p>
            <a:pPr lvl="1"/>
            <a:r>
              <a:t>Guides SOC analysts with automated, prioritized remediation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Dual-Persona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Citizen Cyber Safety Hub:</a:t>
            </a:r>
          </a:p>
          <a:p>
            <a:pPr lvl="1"/>
            <a:r>
              <a:t>Universal 1-Click Scanner (Web &amp; React Native Mobile App)</a:t>
            </a:r>
          </a:p>
          <a:p>
            <a:pPr lvl="1"/>
            <a:r>
              <a:t>Traffic-Light Safety Verdict (Safe / Suspicious / Dangerous)</a:t>
            </a:r>
          </a:p>
          <a:p>
            <a:pPr lvl="1"/>
            <a:r>
              <a:t>Integrated National 1930 Helpline simulation</a:t>
            </a:r>
          </a:p>
          <a:p>
            <a:pPr/>
            <a:r>
              <a:t>SOC Command Center:</a:t>
            </a:r>
          </a:p>
          <a:p>
            <a:pPr lvl="1"/>
            <a:r>
              <a:t>Real-time Threat Stream &amp; KPIs</a:t>
            </a:r>
          </a:p>
          <a:p>
            <a:pPr lvl="1"/>
            <a:r>
              <a:t>Forensic Drawer (XAI) and Live Benchmark Matrix</a:t>
            </a:r>
          </a:p>
          <a:p>
            <a:pPr lvl="1"/>
            <a:r>
              <a:t>Multi-Modal Evaluation Studio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Robust Security Posture:</a:t>
            </a:r>
          </a:p>
          <a:p>
            <a:pPr lvl="1"/>
            <a:r>
              <a:t>BPUT Hackathon PS09: Production-Grade Threat Detection</a:t>
            </a:r>
          </a:p>
          <a:p>
            <a:pPr/>
            <a:r>
              <a:t>Performance:</a:t>
            </a:r>
          </a:p>
          <a:p>
            <a:pPr lvl="1"/>
            <a:r>
              <a:t>100% test coverage with automated CI/CD pipelines</a:t>
            </a:r>
          </a:p>
          <a:p>
            <a:pPr lvl="1"/>
            <a:r>
              <a:t>Fast, modular architecture suitable for Cloud or Edge</a:t>
            </a:r>
          </a:p>
          <a:p>
            <a:pPr/>
            <a:r>
              <a:t>Future Scope:</a:t>
            </a:r>
          </a:p>
          <a:p>
            <a:pPr lvl="1"/>
            <a:r>
              <a:t>Expansion of local LLMs for on-device processing</a:t>
            </a:r>
          </a:p>
          <a:p>
            <a:pPr lvl="1"/>
            <a:r>
              <a:t>Deep integration with banking APIs for transaction freezing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